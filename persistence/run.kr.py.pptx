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371600"/>
            <a:ext cx="6949440" cy="457200"/>
          </a:xfrm>
          <a:prstGeom prst="roundRect">
            <a:avLst>
              <a:gd name="adj" fmla="val 12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137160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buNone/>
            </a:pPr>
            <a:r>
              <a:rPr lang="en-US" sz="16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 run </a:t>
            </a:r>
            <a:pPr indent="0" marL="0">
              <a:buNone/>
            </a:pPr>
            <a:r>
              <a:rPr lang="en-US" sz="1600" dirty="0">
                <a:solidFill>
                  <a:srgbClr val="F2CC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run.py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21031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persistence/run.kr.py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66928" y="2971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 Line-by-Line 분석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66928" y="37033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저장된 GPT 가중치를 불러와 이름을 생성하는 추론 전용 스크립트 (140줄)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4572000"/>
            <a:ext cx="1554480" cy="384048"/>
          </a:xfrm>
          <a:prstGeom prst="roundRect">
            <a:avLst>
              <a:gd name="adj" fmla="val 23810"/>
            </a:avLst>
          </a:prstGeom>
          <a:solidFill>
            <a:srgbClr val="58A6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추론 전용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2240280" y="4572000"/>
            <a:ext cx="1554480" cy="384048"/>
          </a:xfrm>
          <a:prstGeom prst="roundRect">
            <a:avLst>
              <a:gd name="adj" fmla="val 23810"/>
            </a:avLst>
          </a:prstGeom>
          <a:solidFill>
            <a:srgbClr val="7EE78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순수 float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931920" y="4572000"/>
            <a:ext cx="1554480" cy="384048"/>
          </a:xfrm>
          <a:prstGeom prst="roundRect">
            <a:avLst>
              <a:gd name="adj" fmla="val 23810"/>
            </a:avLst>
          </a:prstGeom>
          <a:solidFill>
            <a:srgbClr val="D2A8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 캐시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623560" y="4572000"/>
            <a:ext cx="1554480" cy="384048"/>
          </a:xfrm>
          <a:prstGeom prst="roundRect">
            <a:avLst>
              <a:gd name="adj" fmla="val 23810"/>
            </a:avLst>
          </a:prstGeom>
          <a:solidFill>
            <a:srgbClr val="F2CC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샘플링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48640" y="6126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microgpt · Karpathy · 한국어 주석 버전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2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파일 구조 한눈에 보기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966960" y="457200"/>
            <a:ext cx="1691640" cy="457200"/>
          </a:xfrm>
          <a:prstGeom prst="roundRect">
            <a:avLst>
              <a:gd name="adj" fmla="val 16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CC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L1–140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394960" cy="1371600"/>
          </a:xfrm>
          <a:prstGeom prst="roundRect">
            <a:avLst>
              <a:gd name="adj" fmla="val 4000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8288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645920" y="175564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임포트 &amp; 독스트링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709160" y="1773936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L1–14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645920" y="2212848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 · math · json · random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217920" y="1554480"/>
            <a:ext cx="5394960" cy="1371600"/>
          </a:xfrm>
          <a:prstGeom prst="roundRect">
            <a:avLst>
              <a:gd name="adj" fmla="val 4000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18288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7EE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7315200" y="175564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인자 파싱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378440" y="1773936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L16–33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0" y="2212848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--model / --samples / --temperature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3127248"/>
            <a:ext cx="5394960" cy="1371600"/>
          </a:xfrm>
          <a:prstGeom prst="roundRect">
            <a:avLst>
              <a:gd name="adj" fmla="val 4000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3401568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2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1645920" y="332841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 로드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709160" y="3346704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2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L35–64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645920" y="3785616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model.json → config · chars · weights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217920" y="3127248"/>
            <a:ext cx="5394960" cy="1371600"/>
          </a:xfrm>
          <a:prstGeom prst="roundRect">
            <a:avLst>
              <a:gd name="adj" fmla="val 4000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0" y="3401568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2C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7315200" y="332841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헬퍼 함수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378440" y="3346704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2CC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L69–84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315200" y="3785616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linear · softmax · rmsnorm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8640" y="4700016"/>
            <a:ext cx="5394960" cy="1371600"/>
          </a:xfrm>
          <a:prstGeom prst="roundRect">
            <a:avLst>
              <a:gd name="adj" fmla="val 4000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4974336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1645920" y="490118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gpt() 순전파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709160" y="491947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L86–123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645920" y="5358384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임베딩 → 어텐션 → MLP → 로짓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217920" y="4700016"/>
            <a:ext cx="5394960" cy="1371600"/>
          </a:xfrm>
          <a:prstGeom prst="roundRect">
            <a:avLst>
              <a:gd name="adj" fmla="val 4000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0" y="4974336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7EE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000" dirty="0"/>
          </a:p>
        </p:txBody>
      </p:sp>
      <p:sp>
        <p:nvSpPr>
          <p:cNvPr id="32" name="Text 30"/>
          <p:cNvSpPr/>
          <p:nvPr/>
        </p:nvSpPr>
        <p:spPr>
          <a:xfrm>
            <a:off x="7315200" y="490118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샘플 생성 루프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0378440" y="491947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L125–140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315200" y="5358384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BOS → 샘플링 → 반복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2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임포트 &amp; 독스트링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966960" y="457200"/>
            <a:ext cx="1691640" cy="457200"/>
          </a:xfrm>
          <a:prstGeom prst="roundRect">
            <a:avLst>
              <a:gd name="adj" fmla="val 16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CC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L1–14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6309360" cy="4480560"/>
          </a:xfrm>
          <a:prstGeom prst="roundRect">
            <a:avLst>
              <a:gd name="adj" fmla="val 1224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682496"/>
            <a:ext cx="5980176" cy="4224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1  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"""</a:t>
            </a:r>
            <a:endParaRPr lang="en-US" sz="12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2  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저장된 GPT를 불러와 텍스트를</a:t>
            </a:r>
            <a:endParaRPr lang="en-US" sz="12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3  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생성. 순전파 추론만 수행.</a:t>
            </a:r>
            <a:endParaRPr lang="en-US" sz="12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5  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사용법: uv run run.py</a:t>
            </a:r>
            <a:endParaRPr lang="en-US" sz="12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9  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"""</a:t>
            </a:r>
            <a:endParaRPr lang="en-US" sz="12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11  </a:t>
            </a:r>
            <a:pPr algn="l"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sys</a:t>
            </a:r>
            <a:endParaRPr lang="en-US" sz="12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12  </a:t>
            </a:r>
            <a:pPr algn="l"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math</a:t>
            </a:r>
            <a:endParaRPr lang="en-US" sz="12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13  </a:t>
            </a:r>
            <a:pPr algn="l"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json</a:t>
            </a:r>
            <a:endParaRPr lang="en-US" sz="12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14  </a:t>
            </a:r>
            <a:pPr algn="l"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random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086600" y="1554480"/>
            <a:ext cx="4526280" cy="2148840"/>
          </a:xfrm>
          <a:prstGeom prst="roundRect">
            <a:avLst>
              <a:gd name="adj" fmla="val 2553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287768" y="1682496"/>
            <a:ext cx="41239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모듈 4개 (표준 라이브러리만)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06056" y="2029968"/>
            <a:ext cx="4105656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 — CLI 인자(sys.argv), 종료(sys.exit)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 — math.exp (softmax 지수 계산)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— model.json 파싱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— random.choices (토큰 샘플링)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086600" y="3840480"/>
            <a:ext cx="4526280" cy="2194560"/>
          </a:xfrm>
          <a:prstGeom prst="roundRect">
            <a:avLst>
              <a:gd name="adj" fmla="val 2500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287768" y="3968496"/>
            <a:ext cx="41239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2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포인트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06056" y="4315968"/>
            <a:ext cx="4105656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PyTorch·NumPy 없이 순수 Python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독스트링: 이 파일이 학습 없는 '추론 전용'임을 명시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학습판(train.py)과 달리 자동미분 Value 클래스가 아예 없음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2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인자 파싱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966960" y="457200"/>
            <a:ext cx="1691640" cy="457200"/>
          </a:xfrm>
          <a:prstGeom prst="roundRect">
            <a:avLst>
              <a:gd name="adj" fmla="val 16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CC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L16–33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6766560" cy="4480560"/>
          </a:xfrm>
          <a:prstGeom prst="roundRect">
            <a:avLst>
              <a:gd name="adj" fmla="val 1224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682496"/>
            <a:ext cx="6437376" cy="4224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19  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model_path = 'model.json'</a:t>
            </a:r>
            <a:endParaRPr lang="en-US" sz="11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20  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num_samples = 20</a:t>
            </a:r>
            <a:endParaRPr lang="en-US" sz="11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21  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temperature = 0.6</a:t>
            </a:r>
            <a:endParaRPr lang="en-US" sz="11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23  </a:t>
            </a:r>
            <a:pPr algn="l" indent="0" marL="0">
              <a:lnSpc>
                <a:spcPct val="106000"/>
              </a:lnSpc>
              <a:buNone/>
            </a:pPr>
            <a:r>
              <a:rPr lang="en-US" sz="115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args = sys.argv[1:]</a:t>
            </a:r>
            <a:endParaRPr lang="en-US" sz="11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24  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= 0</a:t>
            </a:r>
            <a:endParaRPr lang="en-US" sz="11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25  </a:t>
            </a:r>
            <a:pPr algn="l" indent="0" marL="0">
              <a:lnSpc>
                <a:spcPct val="106000"/>
              </a:lnSpc>
              <a:buNone/>
            </a:pPr>
            <a:r>
              <a:rPr lang="en-US" sz="115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i &lt; len(args):</a:t>
            </a:r>
            <a:endParaRPr lang="en-US" sz="11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26  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args[i] == '--model':</a:t>
            </a:r>
            <a:endParaRPr lang="en-US" sz="11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27  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model_path = args[i+1]; i += 2</a:t>
            </a:r>
            <a:endParaRPr lang="en-US" sz="11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28  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elif args[i] == '--samples':</a:t>
            </a:r>
            <a:endParaRPr lang="en-US" sz="11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29  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num_samples = int(args[i+1])</a:t>
            </a:r>
            <a:endParaRPr lang="en-US" sz="11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30  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elif args[i]=='--temperature':</a:t>
            </a:r>
            <a:endParaRPr lang="en-US" sz="11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31  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temperature = float(args[i+1])</a:t>
            </a:r>
            <a:endParaRPr lang="en-US" sz="11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32  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else:</a:t>
            </a:r>
            <a:endParaRPr lang="en-US" sz="11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33  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...; sys.exit(1)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7543800" y="1554480"/>
            <a:ext cx="4069080" cy="2286000"/>
          </a:xfrm>
          <a:prstGeom prst="roundRect">
            <a:avLst>
              <a:gd name="adj" fmla="val 2400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44968" y="1682496"/>
            <a:ext cx="3666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EE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argparse 없이 손수 파싱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63256" y="2029968"/>
            <a:ext cx="3648456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L19–21: 기본값 설정 (플래그 없을 때)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L23: sys.argv[1:] = 프로그램명 뺀 인자들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L25: while 루프로 인자를 하나씩 훑음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+= 2: 플래그와 그 값을 함께 건너뜀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543800" y="3977640"/>
            <a:ext cx="4069080" cy="2057400"/>
          </a:xfrm>
          <a:prstGeom prst="roundRect">
            <a:avLst>
              <a:gd name="adj" fmla="val 2667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44968" y="4105656"/>
            <a:ext cx="3666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C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타입 변환이 핵심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763256" y="4453128"/>
            <a:ext cx="3648456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인자는 항상 문자열 → 변환 필요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int('20') = 20 (샘플 개수)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float('0.6') = 0.6 (온도)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알 수 없는 인자는 exit(1)로 오류 종료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2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디스크에서 모델 로드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966960" y="457200"/>
            <a:ext cx="1691640" cy="457200"/>
          </a:xfrm>
          <a:prstGeom prst="roundRect">
            <a:avLst>
              <a:gd name="adj" fmla="val 16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CC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L35–64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6766560" cy="4480560"/>
          </a:xfrm>
          <a:prstGeom prst="roundRect">
            <a:avLst>
              <a:gd name="adj" fmla="val 1224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682496"/>
            <a:ext cx="6437376" cy="4224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40  </a:t>
            </a:r>
            <a:pPr algn="l" indent="0" marL="0">
              <a:lnSpc>
                <a:spcPct val="106000"/>
              </a:lnSpc>
              <a:buNone/>
            </a:pPr>
            <a:r>
              <a:rPr lang="en-US" sz="115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open(model_path,'r') as f:</a:t>
            </a:r>
            <a:endParaRPr lang="en-US" sz="11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41  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model = json.load(f)</a:t>
            </a:r>
            <a:endParaRPr lang="en-US" sz="11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43  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  = model['config']</a:t>
            </a:r>
            <a:endParaRPr lang="en-US" sz="11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44  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chars   = model['chars']</a:t>
            </a:r>
            <a:endParaRPr lang="en-US" sz="11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45  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weights = model['weights']</a:t>
            </a:r>
            <a:endParaRPr lang="en-US" sz="11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48  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n_embd = config['n_embd']</a:t>
            </a:r>
            <a:endParaRPr lang="en-US" sz="11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52  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vocab_size = config['vocab_size']</a:t>
            </a:r>
            <a:endParaRPr lang="en-US" sz="11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56  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stoi = {ch:i for i,ch in ...}</a:t>
            </a:r>
            <a:endParaRPr lang="en-US" sz="11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57  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itos = {i:ch for i,ch in ...}</a:t>
            </a:r>
            <a:endParaRPr lang="en-US" sz="11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58  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BOS = stoi['&lt;BOS&gt;']</a:t>
            </a:r>
            <a:endParaRPr lang="en-US" sz="11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61  </a:t>
            </a:r>
            <a:pPr algn="l" indent="0" marL="0">
              <a:lnSpc>
                <a:spcPct val="106000"/>
              </a:lnSpc>
              <a:buNone/>
            </a:pPr>
            <a:r>
              <a:rPr lang="en-US" sz="1150" b="1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state_dict = {k:[list(row)...]}</a:t>
            </a:r>
            <a:endParaRPr lang="en-US" sz="11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63  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num_params = sum(len(row)...)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7543800" y="1554480"/>
            <a:ext cx="4069080" cy="2286000"/>
          </a:xfrm>
          <a:prstGeom prst="roundRect">
            <a:avLst>
              <a:gd name="adj" fmla="val 2400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44968" y="1682496"/>
            <a:ext cx="3666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2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저장된 3요소를 복원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63256" y="2029968"/>
            <a:ext cx="3648456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— 하이퍼파라미터 → 아키텍처 재구성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chars — 문자 목록 → 토크나이저 재구성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— 학습된 순수 float 가중치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with문: 파일을 열고 자동으로 닫음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543800" y="3977640"/>
            <a:ext cx="4069080" cy="2057400"/>
          </a:xfrm>
          <a:prstGeom prst="roundRect">
            <a:avLst>
              <a:gd name="adj" fmla="val 2667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44968" y="4105656"/>
            <a:ext cx="3666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Value가 없나?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763256" y="4453128"/>
            <a:ext cx="3648456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L61: 가중치를 순수 float 리스트로 복원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추론엔 기울기가 없어 autograd 래퍼 불필요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계산 그래프 오버헤드 없이 더 빠름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토크나이저는 가중치와 반드시 함께 이동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2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헬퍼 함수: linear · softmax · rmsnorm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966960" y="457200"/>
            <a:ext cx="1691640" cy="457200"/>
          </a:xfrm>
          <a:prstGeom prst="roundRect">
            <a:avLst>
              <a:gd name="adj" fmla="val 16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CC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L69–84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6949440" cy="4480560"/>
          </a:xfrm>
          <a:prstGeom prst="roundRect">
            <a:avLst>
              <a:gd name="adj" fmla="val 1224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682496"/>
            <a:ext cx="6620256" cy="4224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69  </a:t>
            </a:r>
            <a:pPr algn="l"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linear(x, w):</a:t>
            </a:r>
            <a:endParaRPr lang="en-US" sz="11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71  </a:t>
            </a:r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[sum(wi*xi for wi,xi</a:t>
            </a:r>
            <a:endParaRPr lang="en-US" sz="11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71  </a:t>
            </a:r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in zip(wo,x)) for wo in w]</a:t>
            </a:r>
            <a:endParaRPr lang="en-US" sz="11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73  </a:t>
            </a:r>
            <a:pPr algn="l"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softmax(logits):</a:t>
            </a:r>
            <a:endParaRPr lang="en-US" sz="11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75  </a:t>
            </a:r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max_val = max(logits)</a:t>
            </a:r>
            <a:endParaRPr lang="en-US" sz="11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76  </a:t>
            </a:r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exps = [math.exp(v-max_val)</a:t>
            </a:r>
            <a:endParaRPr lang="en-US" sz="11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76  </a:t>
            </a:r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for v in logits]</a:t>
            </a:r>
            <a:endParaRPr lang="en-US" sz="11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77  </a:t>
            </a:r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total = sum(exps)</a:t>
            </a:r>
            <a:endParaRPr lang="en-US" sz="11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78  </a:t>
            </a:r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[e/total for e in exps]</a:t>
            </a:r>
            <a:endParaRPr lang="en-US" sz="11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80  </a:t>
            </a:r>
            <a:pPr algn="l"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rmsnorm(x):</a:t>
            </a:r>
            <a:endParaRPr lang="en-US" sz="11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82  </a:t>
            </a:r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ms = sum(xi*xi for xi in x)/len(x)</a:t>
            </a:r>
            <a:endParaRPr lang="en-US" sz="11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83  </a:t>
            </a:r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scale = (ms + 1e-5) ** -0.5</a:t>
            </a:r>
            <a:endParaRPr lang="en-US" sz="11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84  </a:t>
            </a:r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[xi*scale for xi in x]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726680" y="1554480"/>
            <a:ext cx="3886200" cy="1508760"/>
          </a:xfrm>
          <a:prstGeom prst="roundRect">
            <a:avLst>
              <a:gd name="adj" fmla="val 3636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27848" y="1682496"/>
            <a:ext cx="3483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— 선형 변환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946136" y="2029968"/>
            <a:ext cx="3465576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행렬 w × 벡터 x = 각 행과의 내적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신경망의 가장 기본 연산 (y = Wx)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726680" y="3200400"/>
            <a:ext cx="3886200" cy="1463040"/>
          </a:xfrm>
          <a:prstGeom prst="roundRect">
            <a:avLst>
              <a:gd name="adj" fmla="val 3750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27848" y="3328416"/>
            <a:ext cx="3483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EE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 — 확률 분포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946136" y="3675888"/>
            <a:ext cx="346557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빼기로 지수 오버플로 방지(수치 안정화)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학습판과 달리 순수 float · math.exp 사용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726680" y="4773168"/>
            <a:ext cx="3886200" cy="1280160"/>
          </a:xfrm>
          <a:prstGeom prst="roundRect">
            <a:avLst>
              <a:gd name="adj" fmla="val 4286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27848" y="4901184"/>
            <a:ext cx="3483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C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rmsnorm — 정규화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946136" y="5248656"/>
            <a:ext cx="346557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제곱평균제곱근으로 벡터 크기 정규화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1e-5: 0 나눗셈 방지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2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 ①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gpt() 순전파 — 임베딩 &amp; 멀티헤드 어텐션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966960" y="457200"/>
            <a:ext cx="1691640" cy="457200"/>
          </a:xfrm>
          <a:prstGeom prst="roundRect">
            <a:avLst>
              <a:gd name="adj" fmla="val 16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CC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L86–113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7040880" cy="4480560"/>
          </a:xfrm>
          <a:prstGeom prst="roundRect">
            <a:avLst>
              <a:gd name="adj" fmla="val 1224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682496"/>
            <a:ext cx="6711696" cy="4224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88  </a:t>
            </a:r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tok_emb = state_dict['wte'][token_id]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89  </a:t>
            </a:r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pos_emb = state_dict['wpe'][pos_id]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90  </a:t>
            </a:r>
            <a:pPr algn="l" indent="0" marL="0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[t+p for t,p in zip(...)]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91  </a:t>
            </a:r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rmsnorm(x)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95  </a:t>
            </a:r>
            <a:pPr algn="l" indent="0" marL="0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D2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x_residual = x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97  </a:t>
            </a:r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 = linear(x, ...attn_wq)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98  </a:t>
            </a:r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 = linear(x, ...attn_wk)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99  </a:t>
            </a:r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 = linear(x, ...attn_wv)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  </a:t>
            </a:r>
            <a:pPr algn="l" indent="0" marL="0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keys[li].append(k)   # KV 캐시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103  </a:t>
            </a:r>
            <a:pPr algn="l" indent="0" marL="0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h in range(n_head):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108  </a:t>
            </a:r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attn_logits = [Q·K / √d ...]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109  </a:t>
            </a:r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attn_weights = softmax(...)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110  </a:t>
            </a:r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head_out = [Σ w·V ...]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112  </a:t>
            </a:r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linear(x_attn, ...attn_wo)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113  </a:t>
            </a:r>
            <a:pPr algn="l" indent="0" marL="0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D2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[a+b ...]  # 잔차 연결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818120" y="1554480"/>
            <a:ext cx="3794760" cy="2286000"/>
          </a:xfrm>
          <a:prstGeom prst="roundRect">
            <a:avLst>
              <a:gd name="adj" fmla="val 2400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19288" y="1682496"/>
            <a:ext cx="3392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임베딩 (L88–91)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037576" y="2029968"/>
            <a:ext cx="3374136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토큰 임베딩 + 위치 임베딩을 더함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RMSNorm으로 정규화 후 블록 진입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818120" y="3977640"/>
            <a:ext cx="3794760" cy="2057400"/>
          </a:xfrm>
          <a:prstGeom prst="roundRect">
            <a:avLst>
              <a:gd name="adj" fmla="val 2667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19288" y="4105656"/>
            <a:ext cx="3392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2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어텐션 (L95–113)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037576" y="4453128"/>
            <a:ext cx="3374136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Q·K 내적 / √d = 어텐션 점수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 → 가중치로 V를 가중합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 캐시: 이전 K·V 저장·재사용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잔차 연결로 입력을 다시 더함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2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 ②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gpt() 순전파 — MLP &amp; 출력 투영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966960" y="457200"/>
            <a:ext cx="1691640" cy="457200"/>
          </a:xfrm>
          <a:prstGeom prst="roundRect">
            <a:avLst>
              <a:gd name="adj" fmla="val 16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CC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L114–123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7040880" cy="3931920"/>
          </a:xfrm>
          <a:prstGeom prst="roundRect">
            <a:avLst>
              <a:gd name="adj" fmla="val 1395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682496"/>
            <a:ext cx="6711696" cy="3675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115  </a:t>
            </a:r>
            <a:pPr algn="l" indent="0" marL="0">
              <a:lnSpc>
                <a:spcPct val="106000"/>
              </a:lnSpc>
              <a:buNone/>
            </a:pPr>
            <a:r>
              <a:rPr lang="en-US" sz="1150" b="1" dirty="0">
                <a:solidFill>
                  <a:srgbClr val="D2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x_residual = x</a:t>
            </a:r>
            <a:endParaRPr lang="en-US" sz="11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116  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rmsnorm(x)</a:t>
            </a:r>
            <a:endParaRPr lang="en-US" sz="11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117  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linear(x, ...mlp_fc1)</a:t>
            </a:r>
            <a:endParaRPr lang="en-US" sz="11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117  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# 확장 16 → 64</a:t>
            </a:r>
            <a:endParaRPr lang="en-US" sz="11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118  </a:t>
            </a:r>
            <a:pPr algn="l" indent="0" marL="0">
              <a:lnSpc>
                <a:spcPct val="106000"/>
              </a:lnSpc>
              <a:buNone/>
            </a:pPr>
            <a:r>
              <a:rPr lang="en-US" sz="1150" b="1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[max(0,xi)**2 for xi in x]</a:t>
            </a:r>
            <a:endParaRPr lang="en-US" sz="11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118  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# ReLU^2 활성화</a:t>
            </a:r>
            <a:endParaRPr lang="en-US" sz="11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119  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linear(x, ...mlp_fc2)</a:t>
            </a:r>
            <a:endParaRPr lang="en-US" sz="11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119  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# 축소 64 → 16</a:t>
            </a:r>
            <a:endParaRPr lang="en-US" sz="11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120  </a:t>
            </a:r>
            <a:pPr algn="l" indent="0" marL="0">
              <a:lnSpc>
                <a:spcPct val="106000"/>
              </a:lnSpc>
              <a:buNone/>
            </a:pPr>
            <a:r>
              <a:rPr lang="en-US" sz="1150" b="1" dirty="0">
                <a:solidFill>
                  <a:srgbClr val="D2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[a+b ...]  # 잔차 연결</a:t>
            </a:r>
            <a:endParaRPr lang="en-US" sz="11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122  </a:t>
            </a:r>
            <a:pPr algn="l" indent="0" marL="0">
              <a:lnSpc>
                <a:spcPct val="106000"/>
              </a:lnSpc>
              <a:buNone/>
            </a:pPr>
            <a:r>
              <a:rPr lang="en-US" sz="115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logits = linear(x, ...lm_head)</a:t>
            </a:r>
            <a:endParaRPr lang="en-US" sz="11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123  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logits   # 27차원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7818120" y="1554480"/>
            <a:ext cx="3794760" cy="2331720"/>
          </a:xfrm>
          <a:prstGeom prst="roundRect">
            <a:avLst>
              <a:gd name="adj" fmla="val 2353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19288" y="1682496"/>
            <a:ext cx="3392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EE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 블록 (L115–120)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037576" y="2029968"/>
            <a:ext cx="3374136" cy="1728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fc1: 16 → 64 차원으로 확장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ReLU²: 순수 float라 내장 max(0,x) 사용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(학습판은 Value.relu() 사용)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fc2: 64 → 16 차원으로 축소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잔차 연결로 입력 다시 더함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818120" y="4023360"/>
            <a:ext cx="3794760" cy="2011680"/>
          </a:xfrm>
          <a:prstGeom prst="roundRect">
            <a:avLst>
              <a:gd name="adj" fmla="val 2727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19288" y="4151376"/>
            <a:ext cx="3392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출력 투영 (L122–123)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037576" y="4498848"/>
            <a:ext cx="3374136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lm_head: 16 → 27 (어휘 크기)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 = 다음 문자에 대한 로짓 27개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로짓이 샘플링 단계로 전달됨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2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샘플 생성 루프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966960" y="457200"/>
            <a:ext cx="1691640" cy="457200"/>
          </a:xfrm>
          <a:prstGeom prst="roundRect">
            <a:avLst>
              <a:gd name="adj" fmla="val 16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CC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L125–140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6858000" cy="4480560"/>
          </a:xfrm>
          <a:prstGeom prst="roundRect">
            <a:avLst>
              <a:gd name="adj" fmla="val 1224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682496"/>
            <a:ext cx="6528816" cy="4224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129  </a:t>
            </a:r>
            <a:pPr algn="l" indent="0" marL="0">
              <a:lnSpc>
                <a:spcPct val="106000"/>
              </a:lnSpc>
              <a:buNone/>
            </a:pPr>
            <a:r>
              <a:rPr lang="en-US" sz="108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sample_idx in range(num_samples):</a:t>
            </a:r>
            <a:endParaRPr lang="en-US" sz="108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130  </a:t>
            </a:r>
            <a:pPr algn="l"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keys, values = [[]...], [[]...]</a:t>
            </a:r>
            <a:endParaRPr lang="en-US" sz="108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131  </a:t>
            </a:r>
            <a:pPr algn="l" indent="0" marL="0">
              <a:lnSpc>
                <a:spcPct val="106000"/>
              </a:lnSpc>
              <a:buNone/>
            </a:pPr>
            <a:r>
              <a:rPr lang="en-US" sz="108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token_id = BOS</a:t>
            </a:r>
            <a:endParaRPr lang="en-US" sz="108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132  </a:t>
            </a:r>
            <a:pPr algn="l"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result = []</a:t>
            </a:r>
            <a:endParaRPr lang="en-US" sz="108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133  </a:t>
            </a:r>
            <a:pPr algn="l" indent="0" marL="0">
              <a:lnSpc>
                <a:spcPct val="106000"/>
              </a:lnSpc>
              <a:buNone/>
            </a:pPr>
            <a:r>
              <a:rPr lang="en-US" sz="108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 pos_id in range(block_size):</a:t>
            </a:r>
            <a:endParaRPr lang="en-US" sz="108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134  </a:t>
            </a:r>
            <a:pPr algn="l"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logits = gpt(token_id, ...)</a:t>
            </a:r>
            <a:endParaRPr lang="en-US" sz="108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135  </a:t>
            </a:r>
            <a:pPr algn="l"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probs = softmax([l/temperature</a:t>
            </a:r>
            <a:endParaRPr lang="en-US" sz="108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135  </a:t>
            </a:r>
            <a:pPr algn="l"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for l in logits])</a:t>
            </a:r>
            <a:endParaRPr lang="en-US" sz="108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136  </a:t>
            </a:r>
            <a:pPr algn="l" indent="0" marL="0">
              <a:lnSpc>
                <a:spcPct val="106000"/>
              </a:lnSpc>
              <a:buNone/>
            </a:pPr>
            <a:r>
              <a:rPr lang="en-US" sz="1080" b="1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token_id = random.choices(</a:t>
            </a:r>
            <a:endParaRPr lang="en-US" sz="108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136  </a:t>
            </a:r>
            <a:pPr algn="l"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range(vocab_size), weights=probs)[0]</a:t>
            </a:r>
            <a:endParaRPr lang="en-US" sz="108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137  </a:t>
            </a:r>
            <a:pPr algn="l"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token_id == BOS:</a:t>
            </a:r>
            <a:endParaRPr lang="en-US" sz="108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138  </a:t>
            </a:r>
            <a:pPr algn="l"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F2CC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break   # 이름 끝</a:t>
            </a:r>
            <a:endParaRPr lang="en-US" sz="108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139  </a:t>
            </a:r>
            <a:pPr algn="l"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result.append(itos[token_id])</a:t>
            </a:r>
            <a:endParaRPr lang="en-US" sz="108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140  </a:t>
            </a:r>
            <a:pPr algn="l"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print(f'sample: {...}')</a:t>
            </a:r>
            <a:endParaRPr lang="en-US" sz="1080" dirty="0"/>
          </a:p>
        </p:txBody>
      </p:sp>
      <p:sp>
        <p:nvSpPr>
          <p:cNvPr id="7" name="Shape 5"/>
          <p:cNvSpPr/>
          <p:nvPr/>
        </p:nvSpPr>
        <p:spPr>
          <a:xfrm>
            <a:off x="7635240" y="1554480"/>
            <a:ext cx="3977640" cy="2286000"/>
          </a:xfrm>
          <a:prstGeom prst="roundRect">
            <a:avLst>
              <a:gd name="adj" fmla="val 2400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36408" y="1682496"/>
            <a:ext cx="3575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EE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생성 흐름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854696" y="2029968"/>
            <a:ext cx="3557016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L131: BOS 토큰에서 시작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L134: gpt()로 다음 문자 로짓 계산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L135: 온도로 분포 조절 후 softmax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L136: 확률에 비례해 다음 토큰 샘플링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635240" y="3977640"/>
            <a:ext cx="3977640" cy="2057400"/>
          </a:xfrm>
          <a:prstGeom prst="roundRect">
            <a:avLst>
              <a:gd name="adj" fmla="val 2667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36408" y="4105656"/>
            <a:ext cx="3575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C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온도 &amp; 종료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854696" y="4453128"/>
            <a:ext cx="3557016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↓ = 보수적, ↑ = 다양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L137–138: 다시 BOS면 이름 완성 → break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L130: 샘플마다 KV 캐시 초기화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itos로 정수 → 문자 디코딩 후 출력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2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정리 — run.kr.py의 핵심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66160" cy="2011680"/>
          </a:xfrm>
          <a:prstGeom prst="roundRect">
            <a:avLst>
              <a:gd name="adj" fmla="val 2727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8288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추론 전용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777240" y="242316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학습·기울기·옵티마이저 없이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순전파만 수행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43400" y="1600200"/>
            <a:ext cx="3566160" cy="2011680"/>
          </a:xfrm>
          <a:prstGeom prst="roundRect">
            <a:avLst>
              <a:gd name="adj" fmla="val 2727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0" y="18288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7EE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순수 float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4572000" y="242316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래퍼 없이 빠르게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(autograd 오버헤드 제거)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138160" y="1600200"/>
            <a:ext cx="3566160" cy="2011680"/>
          </a:xfrm>
          <a:prstGeom prst="roundRect">
            <a:avLst>
              <a:gd name="adj" fmla="val 2727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66760" y="18288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D2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train.py의 짝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8366760" y="242316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train.py가 만든 model.json을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불러와 즉시 이름 생성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3977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파이프라인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" y="4343400"/>
            <a:ext cx="2286000" cy="548640"/>
          </a:xfrm>
          <a:prstGeom prst="roundRect">
            <a:avLst>
              <a:gd name="adj" fmla="val 10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2CC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train.sh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816352" y="434340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291840" y="4343400"/>
            <a:ext cx="2286000" cy="548640"/>
          </a:xfrm>
          <a:prstGeom prst="roundRect">
            <a:avLst>
              <a:gd name="adj" fmla="val 10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model.json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559552" y="434340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035040" y="4343400"/>
            <a:ext cx="2286000" cy="548640"/>
          </a:xfrm>
          <a:prstGeom prst="roundRect">
            <a:avLst>
              <a:gd name="adj" fmla="val 10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run.sh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302752" y="434340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778240" y="4343400"/>
            <a:ext cx="2286000" cy="548640"/>
          </a:xfrm>
          <a:prstGeom prst="roundRect">
            <a:avLst>
              <a:gd name="adj" fmla="val 10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2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생성된 이름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48640" y="5943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관련 문서: run.py.kr.md · llm.md · math.md · python.md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persistence/run.kr.py 코드 분석</dc:title>
  <dc:subject>PptxGenJS Presentation</dc:subject>
  <dc:creator>Claude Code</dc:creator>
  <cp:lastModifiedBy>Claude Code</cp:lastModifiedBy>
  <cp:revision>1</cp:revision>
  <dcterms:created xsi:type="dcterms:W3CDTF">2026-07-24T23:33:09Z</dcterms:created>
  <dcterms:modified xsi:type="dcterms:W3CDTF">2026-07-24T23:33:09Z</dcterms:modified>
</cp:coreProperties>
</file>